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50" b="0" i="0">
                <a:solidFill>
                  <a:srgbClr val="E1E1E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850" b="0" i="0">
                <a:solidFill>
                  <a:srgbClr val="E1E1E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771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1741" y="1162268"/>
            <a:ext cx="4201442" cy="5418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645" y="1107296"/>
            <a:ext cx="4688338" cy="5968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58085" y="0"/>
            <a:ext cx="17536160" cy="11285220"/>
          </a:xfrm>
          <a:custGeom>
            <a:avLst/>
            <a:gdLst/>
            <a:ahLst/>
            <a:cxnLst/>
            <a:rect l="l" t="t" r="r" b="b"/>
            <a:pathLst>
              <a:path w="17536160" h="11285220">
                <a:moveTo>
                  <a:pt x="17536116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7536116" y="0"/>
                </a:lnTo>
                <a:lnTo>
                  <a:pt x="17536116" y="11284997"/>
                </a:lnTo>
                <a:close/>
              </a:path>
            </a:pathLst>
          </a:custGeom>
          <a:solidFill>
            <a:srgbClr val="0C1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771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546" y="1170121"/>
            <a:ext cx="10389736" cy="5340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2511" y="1162268"/>
            <a:ext cx="109944" cy="1099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7351" y="1107296"/>
            <a:ext cx="2395215" cy="59684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42379" y="0"/>
            <a:ext cx="18086070" cy="11285220"/>
          </a:xfrm>
          <a:custGeom>
            <a:avLst/>
            <a:gdLst/>
            <a:ahLst/>
            <a:cxnLst/>
            <a:rect l="l" t="t" r="r" b="b"/>
            <a:pathLst>
              <a:path w="18086070" h="11285220">
                <a:moveTo>
                  <a:pt x="18085837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8085837" y="0"/>
                </a:lnTo>
                <a:lnTo>
                  <a:pt x="18085837" y="11284997"/>
                </a:lnTo>
                <a:close/>
              </a:path>
            </a:pathLst>
          </a:custGeom>
          <a:solidFill>
            <a:srgbClr val="0C15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983" y="2868102"/>
            <a:ext cx="5966459" cy="535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7291" y="3271885"/>
            <a:ext cx="12607290" cy="3173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50" b="0" i="0">
                <a:solidFill>
                  <a:srgbClr val="E1E1E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7714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58085" y="0"/>
            <a:ext cx="12651740" cy="11285220"/>
            <a:chOff x="958085" y="0"/>
            <a:chExt cx="12651740" cy="1128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645" y="2827139"/>
              <a:ext cx="5662131" cy="21988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58085" y="0"/>
              <a:ext cx="12651740" cy="11285220"/>
            </a:xfrm>
            <a:custGeom>
              <a:avLst/>
              <a:gdLst/>
              <a:ahLst/>
              <a:cxnLst/>
              <a:rect l="l" t="t" r="r" b="b"/>
              <a:pathLst>
                <a:path w="12651740" h="11285220">
                  <a:moveTo>
                    <a:pt x="12651448" y="11284997"/>
                  </a:moveTo>
                  <a:lnTo>
                    <a:pt x="0" y="11284997"/>
                  </a:lnTo>
                  <a:lnTo>
                    <a:pt x="0" y="0"/>
                  </a:lnTo>
                  <a:lnTo>
                    <a:pt x="12651448" y="0"/>
                  </a:lnTo>
                  <a:lnTo>
                    <a:pt x="12651448" y="11284997"/>
                  </a:lnTo>
                  <a:close/>
                </a:path>
              </a:pathLst>
            </a:custGeom>
            <a:solidFill>
              <a:srgbClr val="0C15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FFFFFF"/>
                </a:solidFill>
              </a:rPr>
              <a:t>Zero </a:t>
            </a:r>
            <a:r>
              <a:rPr dirty="0" spc="229">
                <a:solidFill>
                  <a:srgbClr val="EFEFEF"/>
                </a:solidFill>
              </a:rPr>
              <a:t>Trust</a:t>
            </a:r>
            <a:r>
              <a:rPr dirty="0" spc="700">
                <a:solidFill>
                  <a:srgbClr val="EFEFEF"/>
                </a:solidFill>
              </a:rPr>
              <a:t> </a:t>
            </a:r>
            <a:r>
              <a:rPr dirty="0" spc="495"/>
              <a:t>Architecture</a:t>
            </a:r>
          </a:p>
          <a:p>
            <a:pPr marL="17780" marR="93345" indent="-5715">
              <a:lnSpc>
                <a:spcPct val="142100"/>
              </a:lnSpc>
              <a:spcBef>
                <a:spcPts val="1505"/>
              </a:spcBef>
            </a:pPr>
            <a:r>
              <a:rPr dirty="0" sz="3700" spc="55">
                <a:solidFill>
                  <a:srgbClr val="93A1B5"/>
                </a:solidFill>
              </a:rPr>
              <a:t>Moving</a:t>
            </a:r>
            <a:r>
              <a:rPr dirty="0" sz="3700" spc="345">
                <a:solidFill>
                  <a:srgbClr val="93A1B5"/>
                </a:solidFill>
              </a:rPr>
              <a:t> </a:t>
            </a:r>
            <a:r>
              <a:rPr dirty="0" sz="3700">
                <a:solidFill>
                  <a:srgbClr val="97A3BA"/>
                </a:solidFill>
              </a:rPr>
              <a:t>Beyond</a:t>
            </a:r>
            <a:r>
              <a:rPr dirty="0" sz="3700" spc="145">
                <a:solidFill>
                  <a:srgbClr val="97A3BA"/>
                </a:solidFill>
              </a:rPr>
              <a:t> </a:t>
            </a:r>
            <a:r>
              <a:rPr dirty="0" sz="3700" spc="165">
                <a:solidFill>
                  <a:srgbClr val="91A3B6"/>
                </a:solidFill>
              </a:rPr>
              <a:t>the</a:t>
            </a:r>
            <a:r>
              <a:rPr dirty="0" sz="3700" spc="-5">
                <a:solidFill>
                  <a:srgbClr val="91A3B6"/>
                </a:solidFill>
              </a:rPr>
              <a:t> </a:t>
            </a:r>
            <a:r>
              <a:rPr dirty="0" sz="3700" spc="60">
                <a:solidFill>
                  <a:srgbClr val="A0AABC"/>
                </a:solidFill>
              </a:rPr>
              <a:t>Perimeter:</a:t>
            </a:r>
            <a:r>
              <a:rPr dirty="0" sz="3700" spc="405">
                <a:solidFill>
                  <a:srgbClr val="A0AABC"/>
                </a:solidFill>
              </a:rPr>
              <a:t> </a:t>
            </a:r>
            <a:r>
              <a:rPr dirty="0" sz="3700" spc="105">
                <a:solidFill>
                  <a:srgbClr val="91A1B5"/>
                </a:solidFill>
              </a:rPr>
              <a:t>From</a:t>
            </a:r>
            <a:r>
              <a:rPr dirty="0" sz="3700" spc="65">
                <a:solidFill>
                  <a:srgbClr val="91A1B5"/>
                </a:solidFill>
              </a:rPr>
              <a:t> </a:t>
            </a:r>
            <a:r>
              <a:rPr dirty="0" sz="3700" spc="60">
                <a:solidFill>
                  <a:srgbClr val="95A3B5"/>
                </a:solidFill>
              </a:rPr>
              <a:t>"Trust</a:t>
            </a:r>
            <a:r>
              <a:rPr dirty="0" sz="3700" spc="225">
                <a:solidFill>
                  <a:srgbClr val="95A3B5"/>
                </a:solidFill>
              </a:rPr>
              <a:t> </a:t>
            </a:r>
            <a:r>
              <a:rPr dirty="0" sz="3700" spc="165">
                <a:solidFill>
                  <a:srgbClr val="95A1B8"/>
                </a:solidFill>
              </a:rPr>
              <a:t>but</a:t>
            </a:r>
            <a:r>
              <a:rPr dirty="0" sz="3700" spc="210">
                <a:solidFill>
                  <a:srgbClr val="95A1B8"/>
                </a:solidFill>
              </a:rPr>
              <a:t> </a:t>
            </a:r>
            <a:r>
              <a:rPr dirty="0" sz="3700" spc="85">
                <a:solidFill>
                  <a:srgbClr val="9EACBC"/>
                </a:solidFill>
              </a:rPr>
              <a:t>Verify"</a:t>
            </a:r>
            <a:r>
              <a:rPr dirty="0" sz="3700" spc="260">
                <a:solidFill>
                  <a:srgbClr val="9EACBC"/>
                </a:solidFill>
              </a:rPr>
              <a:t> </a:t>
            </a:r>
            <a:r>
              <a:rPr dirty="0" sz="3700" spc="60">
                <a:solidFill>
                  <a:srgbClr val="939EB5"/>
                </a:solidFill>
              </a:rPr>
              <a:t>to </a:t>
            </a:r>
            <a:r>
              <a:rPr dirty="0" sz="3700" spc="55">
                <a:solidFill>
                  <a:srgbClr val="909CAE"/>
                </a:solidFill>
              </a:rPr>
              <a:t>"Never</a:t>
            </a:r>
            <a:r>
              <a:rPr dirty="0" sz="3700" spc="229">
                <a:solidFill>
                  <a:srgbClr val="909CAE"/>
                </a:solidFill>
              </a:rPr>
              <a:t> </a:t>
            </a:r>
            <a:r>
              <a:rPr dirty="0" sz="3700">
                <a:solidFill>
                  <a:srgbClr val="8E9AB1"/>
                </a:solidFill>
              </a:rPr>
              <a:t>Trust,</a:t>
            </a:r>
            <a:r>
              <a:rPr dirty="0" sz="3700" spc="160">
                <a:solidFill>
                  <a:srgbClr val="8E9AB1"/>
                </a:solidFill>
              </a:rPr>
              <a:t> </a:t>
            </a:r>
            <a:r>
              <a:rPr dirty="0" sz="3700">
                <a:solidFill>
                  <a:srgbClr val="9CA8BC"/>
                </a:solidFill>
              </a:rPr>
              <a:t>Always</a:t>
            </a:r>
            <a:r>
              <a:rPr dirty="0" sz="3700" spc="380">
                <a:solidFill>
                  <a:srgbClr val="9CA8BC"/>
                </a:solidFill>
              </a:rPr>
              <a:t> </a:t>
            </a:r>
            <a:r>
              <a:rPr dirty="0" sz="3700" spc="100">
                <a:solidFill>
                  <a:srgbClr val="8993A5"/>
                </a:solidFill>
              </a:rPr>
              <a:t>Verify".</a:t>
            </a:r>
            <a:endParaRPr sz="3700"/>
          </a:p>
        </p:txBody>
      </p:sp>
      <p:sp>
        <p:nvSpPr>
          <p:cNvPr id="7" name="object 7" descr=""/>
          <p:cNvSpPr txBox="1"/>
          <p:nvPr/>
        </p:nvSpPr>
        <p:spPr>
          <a:xfrm>
            <a:off x="947583" y="8168988"/>
            <a:ext cx="14414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4">
                <a:solidFill>
                  <a:srgbClr val="E2E2E2"/>
                </a:solidFill>
                <a:latin typeface="Arial MT"/>
                <a:cs typeface="Arial MT"/>
              </a:rPr>
              <a:t>Identity</a:t>
            </a:r>
            <a:r>
              <a:rPr dirty="0" sz="1800" spc="-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800" spc="75">
                <a:solidFill>
                  <a:srgbClr val="DFDFDF"/>
                </a:solidFill>
                <a:latin typeface="Arial MT"/>
                <a:cs typeface="Arial MT"/>
              </a:rPr>
              <a:t>First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09474" y="8168988"/>
            <a:ext cx="23615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0">
                <a:solidFill>
                  <a:srgbClr val="E2E2E2"/>
                </a:solidFill>
                <a:latin typeface="Arial MT"/>
                <a:cs typeface="Arial MT"/>
              </a:rPr>
              <a:t>Micro-Segmentation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75707" y="8168988"/>
            <a:ext cx="1851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E4E4E4"/>
                </a:solidFill>
                <a:latin typeface="Arial MT"/>
                <a:cs typeface="Arial MT"/>
              </a:rPr>
              <a:t>Continuous</a:t>
            </a:r>
            <a:r>
              <a:rPr dirty="0" sz="1800" spc="16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E4E4E4"/>
                </a:solidFill>
                <a:latin typeface="Arial MT"/>
                <a:cs typeface="Arial MT"/>
              </a:rPr>
              <a:t>Auth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77143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58085" y="0"/>
            <a:ext cx="17708880" cy="11285220"/>
          </a:xfrm>
          <a:custGeom>
            <a:avLst/>
            <a:gdLst/>
            <a:ahLst/>
            <a:cxnLst/>
            <a:rect l="l" t="t" r="r" b="b"/>
            <a:pathLst>
              <a:path w="17708880" h="11285220">
                <a:moveTo>
                  <a:pt x="17708886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7708886" y="0"/>
                </a:lnTo>
                <a:lnTo>
                  <a:pt x="17708886" y="11284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46192" y="5601658"/>
            <a:ext cx="308038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145">
                <a:solidFill>
                  <a:srgbClr val="FFFFFF"/>
                </a:solidFill>
                <a:latin typeface="Arial MT"/>
                <a:cs typeface="Arial MT"/>
              </a:rPr>
              <a:t>Verify</a:t>
            </a:r>
            <a:r>
              <a:rPr dirty="0" sz="32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135">
                <a:solidFill>
                  <a:srgbClr val="FFFFFF"/>
                </a:solidFill>
                <a:latin typeface="Arial MT"/>
                <a:cs typeface="Arial MT"/>
              </a:rPr>
              <a:t>Explicitly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51248" y="5601658"/>
            <a:ext cx="371411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3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dirty="0" sz="3200" spc="-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55">
                <a:solidFill>
                  <a:srgbClr val="FFFFFF"/>
                </a:solidFill>
                <a:latin typeface="Arial MT"/>
                <a:cs typeface="Arial MT"/>
              </a:rPr>
              <a:t>Leos†</a:t>
            </a:r>
            <a:r>
              <a:rPr dirty="0" sz="32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Arial MT"/>
                <a:cs typeface="Arial MT"/>
              </a:rPr>
              <a:t>Privilege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88028" y="5585297"/>
            <a:ext cx="3014980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Assume</a:t>
            </a:r>
            <a:r>
              <a:rPr dirty="0" spc="-175"/>
              <a:t> </a:t>
            </a:r>
            <a:r>
              <a:rPr dirty="0" spc="-10"/>
              <a:t>Breach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614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58085" y="0"/>
            <a:ext cx="8552180" cy="11285220"/>
          </a:xfrm>
          <a:custGeom>
            <a:avLst/>
            <a:gdLst/>
            <a:ahLst/>
            <a:cxnLst/>
            <a:rect l="l" t="t" r="r" b="b"/>
            <a:pathLst>
              <a:path w="8552180" h="11285220">
                <a:moveTo>
                  <a:pt x="8552096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8552096" y="0"/>
                </a:lnTo>
                <a:lnTo>
                  <a:pt x="8552096" y="11284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32123" y="4611504"/>
            <a:ext cx="685419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25">
                <a:solidFill>
                  <a:srgbClr val="FFFFFF"/>
                </a:solidFill>
                <a:latin typeface="Arial MT"/>
                <a:cs typeface="Arial MT"/>
              </a:rPr>
              <a:t>Mul†i-</a:t>
            </a: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Foc†or</a:t>
            </a:r>
            <a:r>
              <a:rPr dirty="0" sz="33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-80">
                <a:solidFill>
                  <a:srgbClr val="FFFFFF"/>
                </a:solidFill>
                <a:latin typeface="Arial MT"/>
                <a:cs typeface="Arial MT"/>
              </a:rPr>
              <a:t>Au†hen†ico†ion</a:t>
            </a:r>
            <a:r>
              <a:rPr dirty="0" sz="3350" spc="-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-10">
                <a:solidFill>
                  <a:srgbClr val="FFFFFF"/>
                </a:solidFill>
                <a:latin typeface="Arial MT"/>
                <a:cs typeface="Arial MT"/>
              </a:rPr>
              <a:t>(MFA)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706510" y="0"/>
            <a:ext cx="8929370" cy="11285220"/>
          </a:xfrm>
          <a:custGeom>
            <a:avLst/>
            <a:gdLst/>
            <a:ahLst/>
            <a:cxnLst/>
            <a:rect l="l" t="t" r="r" b="b"/>
            <a:pathLst>
              <a:path w="8929369" h="11285220">
                <a:moveTo>
                  <a:pt x="8929048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8929048" y="0"/>
                </a:lnTo>
                <a:lnTo>
                  <a:pt x="8929048" y="112849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916878" y="4611504"/>
            <a:ext cx="6810375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Role-Based</a:t>
            </a:r>
            <a:r>
              <a:rPr dirty="0" spc="-15"/>
              <a:t> </a:t>
            </a:r>
            <a:r>
              <a:rPr dirty="0" spc="-95"/>
              <a:t>Access</a:t>
            </a:r>
            <a:r>
              <a:rPr dirty="0" spc="-155"/>
              <a:t> </a:t>
            </a:r>
            <a:r>
              <a:rPr dirty="0" spc="114"/>
              <a:t>Control</a:t>
            </a:r>
            <a:r>
              <a:rPr dirty="0" spc="-190"/>
              <a:t> </a:t>
            </a:r>
            <a:r>
              <a:rPr dirty="0" spc="-10"/>
              <a:t>(RBAC)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5569" y="3877233"/>
            <a:ext cx="5258435" cy="153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3970" marR="5080" indent="-1905">
              <a:lnSpc>
                <a:spcPct val="129299"/>
              </a:lnSpc>
              <a:spcBef>
                <a:spcPts val="95"/>
              </a:spcBef>
            </a:pPr>
            <a:r>
              <a:rPr dirty="0" sz="2550" spc="-45">
                <a:solidFill>
                  <a:srgbClr val="DDDDDD"/>
                </a:solidFill>
                <a:latin typeface="Arial MT"/>
                <a:cs typeface="Arial MT"/>
              </a:rPr>
              <a:t>The</a:t>
            </a:r>
            <a:r>
              <a:rPr dirty="0" sz="2550" spc="-1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DFDFDF"/>
                </a:solidFill>
                <a:latin typeface="Arial MT"/>
                <a:cs typeface="Arial MT"/>
              </a:rPr>
              <a:t>foundation</a:t>
            </a:r>
            <a:r>
              <a:rPr dirty="0" sz="2550" spc="-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E1E1E1"/>
                </a:solidFill>
                <a:latin typeface="Arial MT"/>
                <a:cs typeface="Arial MT"/>
              </a:rPr>
              <a:t>of</a:t>
            </a:r>
            <a:r>
              <a:rPr dirty="0" sz="2550" spc="-1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the</a:t>
            </a:r>
            <a:r>
              <a:rPr dirty="0" sz="2550" spc="-1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framework.</a:t>
            </a:r>
            <a:r>
              <a:rPr dirty="0" sz="2550" spc="1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105">
                <a:solidFill>
                  <a:srgbClr val="DDDDDD"/>
                </a:solidFill>
                <a:latin typeface="Arial MT"/>
                <a:cs typeface="Arial MT"/>
              </a:rPr>
              <a:t>We </a:t>
            </a:r>
            <a:r>
              <a:rPr dirty="0" sz="2550" spc="-80">
                <a:solidFill>
                  <a:srgbClr val="DFDFDF"/>
                </a:solidFill>
                <a:latin typeface="Arial MT"/>
                <a:cs typeface="Arial MT"/>
              </a:rPr>
              <a:t>move</a:t>
            </a:r>
            <a:r>
              <a:rPr dirty="0" sz="2550" spc="-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the</a:t>
            </a:r>
            <a:r>
              <a:rPr dirty="0" sz="2550" spc="-1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perimeter</a:t>
            </a:r>
            <a:r>
              <a:rPr dirty="0" sz="2550" spc="10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from</a:t>
            </a:r>
            <a:r>
              <a:rPr dirty="0" sz="2550" spc="-1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the</a:t>
            </a:r>
            <a:r>
              <a:rPr dirty="0" sz="2550" spc="-1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1E1E1"/>
                </a:solidFill>
                <a:latin typeface="Arial MT"/>
                <a:cs typeface="Arial MT"/>
              </a:rPr>
              <a:t>network </a:t>
            </a:r>
            <a:r>
              <a:rPr dirty="0" sz="2550" spc="-20">
                <a:solidFill>
                  <a:srgbClr val="DDDDDD"/>
                </a:solidFill>
                <a:latin typeface="Arial MT"/>
                <a:cs typeface="Arial MT"/>
              </a:rPr>
              <a:t>edge</a:t>
            </a:r>
            <a:r>
              <a:rPr dirty="0" sz="2550" spc="-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ADADA"/>
                </a:solidFill>
                <a:latin typeface="Arial MT"/>
                <a:cs typeface="Arial MT"/>
              </a:rPr>
              <a:t>to</a:t>
            </a:r>
            <a:r>
              <a:rPr dirty="0" sz="2550" spc="-204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DFDFDF"/>
                </a:solidFill>
                <a:latin typeface="Arial MT"/>
                <a:cs typeface="Arial MT"/>
              </a:rPr>
              <a:t>the</a:t>
            </a:r>
            <a:r>
              <a:rPr dirty="0" sz="2550" spc="-1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identity</a:t>
            </a:r>
            <a:r>
              <a:rPr dirty="0" sz="2550" spc="-8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1E1E1"/>
                </a:solidFill>
                <a:latin typeface="Arial MT"/>
                <a:cs typeface="Arial MT"/>
              </a:rPr>
              <a:t>itself.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42501" y="6171666"/>
            <a:ext cx="453644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80">
                <a:solidFill>
                  <a:srgbClr val="DADADA"/>
                </a:solidFill>
                <a:latin typeface="Arial MT"/>
                <a:cs typeface="Arial MT"/>
              </a:rPr>
              <a:t>IAM</a:t>
            </a:r>
            <a:r>
              <a:rPr dirty="0" sz="2300" spc="-4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300" spc="100">
                <a:solidFill>
                  <a:srgbClr val="DBDBDB"/>
                </a:solidFill>
                <a:latin typeface="Arial MT"/>
                <a:cs typeface="Arial MT"/>
              </a:rPr>
              <a:t>Integration</a:t>
            </a:r>
            <a:r>
              <a:rPr dirty="0" sz="2300" spc="-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DDDDDD"/>
                </a:solidFill>
                <a:latin typeface="Arial MT"/>
                <a:cs typeface="Arial MT"/>
              </a:rPr>
              <a:t>(Okto/Azure</a:t>
            </a:r>
            <a:r>
              <a:rPr dirty="0" sz="2300" spc="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DFDFDF"/>
                </a:solidFill>
                <a:latin typeface="Arial MT"/>
                <a:cs typeface="Arial MT"/>
              </a:rPr>
              <a:t>AD)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48885" y="6909864"/>
            <a:ext cx="290957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DFDFDF"/>
                </a:solidFill>
                <a:latin typeface="Arial MT"/>
                <a:cs typeface="Arial MT"/>
              </a:rPr>
              <a:t>Single</a:t>
            </a:r>
            <a:r>
              <a:rPr dirty="0" sz="2300" spc="-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E2E2E2"/>
                </a:solidFill>
                <a:latin typeface="Arial MT"/>
                <a:cs typeface="Arial MT"/>
              </a:rPr>
              <a:t>Sign-</a:t>
            </a:r>
            <a:r>
              <a:rPr dirty="0" sz="2300" spc="100">
                <a:solidFill>
                  <a:srgbClr val="E2E2E2"/>
                </a:solidFill>
                <a:latin typeface="Arial MT"/>
                <a:cs typeface="Arial MT"/>
              </a:rPr>
              <a:t>On</a:t>
            </a:r>
            <a:r>
              <a:rPr dirty="0" sz="2300" spc="-8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300" spc="-40">
                <a:solidFill>
                  <a:srgbClr val="E2E2E2"/>
                </a:solidFill>
                <a:latin typeface="Arial MT"/>
                <a:cs typeface="Arial MT"/>
              </a:rPr>
              <a:t>(SSO)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47445" y="7648061"/>
            <a:ext cx="424561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90">
                <a:solidFill>
                  <a:srgbClr val="E6E6E6"/>
                </a:solidFill>
                <a:latin typeface="Arial MT"/>
                <a:cs typeface="Arial MT"/>
              </a:rPr>
              <a:t>Context-</a:t>
            </a:r>
            <a:r>
              <a:rPr dirty="0" sz="2300" spc="110">
                <a:solidFill>
                  <a:srgbClr val="E6E6E6"/>
                </a:solidFill>
                <a:latin typeface="Arial MT"/>
                <a:cs typeface="Arial MT"/>
              </a:rPr>
              <a:t>Aware</a:t>
            </a:r>
            <a:r>
              <a:rPr dirty="0" sz="2300" spc="17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8E8E8"/>
                </a:solidFill>
                <a:latin typeface="Arial MT"/>
                <a:cs typeface="Arial MT"/>
              </a:rPr>
              <a:t>Access</a:t>
            </a:r>
            <a:r>
              <a:rPr dirty="0" sz="2300" spc="2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E2E2E2"/>
                </a:solidFill>
                <a:latin typeface="Arial MT"/>
                <a:cs typeface="Arial MT"/>
              </a:rPr>
              <a:t>Policies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65929" y="3870689"/>
            <a:ext cx="5272405" cy="153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 marR="5080" indent="-1905">
              <a:lnSpc>
                <a:spcPct val="143400"/>
              </a:lnSpc>
              <a:spcBef>
                <a:spcPts val="95"/>
              </a:spcBef>
            </a:pPr>
            <a:r>
              <a:rPr dirty="0" sz="2300">
                <a:solidFill>
                  <a:srgbClr val="DDDDDD"/>
                </a:solidFill>
                <a:latin typeface="Arial MT"/>
                <a:cs typeface="Arial MT"/>
              </a:rPr>
              <a:t>Prevents</a:t>
            </a:r>
            <a:r>
              <a:rPr dirty="0" sz="2300" spc="2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E4E4E4"/>
                </a:solidFill>
                <a:latin typeface="Arial MT"/>
                <a:cs typeface="Arial MT"/>
              </a:rPr>
              <a:t>lateral</a:t>
            </a:r>
            <a:r>
              <a:rPr dirty="0" sz="2300" spc="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E8E8E8"/>
                </a:solidFill>
                <a:latin typeface="Arial MT"/>
                <a:cs typeface="Arial MT"/>
              </a:rPr>
              <a:t>movement.</a:t>
            </a:r>
            <a:r>
              <a:rPr dirty="0" sz="2300" spc="28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8E8E8"/>
                </a:solidFill>
                <a:latin typeface="Arial MT"/>
                <a:cs typeface="Arial MT"/>
              </a:rPr>
              <a:t>Even</a:t>
            </a:r>
            <a:r>
              <a:rPr dirty="0" sz="2300" spc="2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if</a:t>
            </a:r>
            <a:r>
              <a:rPr dirty="0" sz="2300" spc="28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95">
                <a:solidFill>
                  <a:srgbClr val="DDDDDD"/>
                </a:solidFill>
                <a:latin typeface="Arial MT"/>
                <a:cs typeface="Arial MT"/>
              </a:rPr>
              <a:t>on </a:t>
            </a:r>
            <a:r>
              <a:rPr dirty="0" sz="2300" spc="100">
                <a:solidFill>
                  <a:srgbClr val="DDDDDD"/>
                </a:solidFill>
                <a:latin typeface="Arial MT"/>
                <a:cs typeface="Arial MT"/>
              </a:rPr>
              <a:t>attacker</a:t>
            </a:r>
            <a:r>
              <a:rPr dirty="0" sz="2300" spc="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DFDFDF"/>
                </a:solidFill>
                <a:latin typeface="Arial MT"/>
                <a:cs typeface="Arial MT"/>
              </a:rPr>
              <a:t>enters</a:t>
            </a:r>
            <a:r>
              <a:rPr dirty="0" sz="2300" spc="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E1E1E1"/>
                </a:solidFill>
                <a:latin typeface="Arial MT"/>
                <a:cs typeface="Arial MT"/>
              </a:rPr>
              <a:t>the</a:t>
            </a:r>
            <a:r>
              <a:rPr dirty="0" sz="2300" spc="-1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300" spc="100">
                <a:solidFill>
                  <a:srgbClr val="DDDDDD"/>
                </a:solidFill>
                <a:latin typeface="Arial MT"/>
                <a:cs typeface="Arial MT"/>
              </a:rPr>
              <a:t>network,</a:t>
            </a:r>
            <a:r>
              <a:rPr dirty="0" sz="2300" spc="9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95">
                <a:solidFill>
                  <a:srgbClr val="DFDFDF"/>
                </a:solidFill>
                <a:latin typeface="Arial MT"/>
                <a:cs typeface="Arial MT"/>
              </a:rPr>
              <a:t>they</a:t>
            </a:r>
            <a:r>
              <a:rPr dirty="0" sz="2300" spc="-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E1E1E1"/>
                </a:solidFill>
                <a:latin typeface="Arial MT"/>
                <a:cs typeface="Arial MT"/>
              </a:rPr>
              <a:t>are </a:t>
            </a:r>
            <a:r>
              <a:rPr dirty="0" sz="2300" spc="150">
                <a:solidFill>
                  <a:srgbClr val="DFDFDF"/>
                </a:solidFill>
                <a:latin typeface="Arial MT"/>
                <a:cs typeface="Arial MT"/>
              </a:rPr>
              <a:t>trapped</a:t>
            </a:r>
            <a:r>
              <a:rPr dirty="0" sz="2300" spc="-2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D6D6D6"/>
                </a:solidFill>
                <a:latin typeface="Arial MT"/>
                <a:cs typeface="Arial MT"/>
              </a:rPr>
              <a:t>in</a:t>
            </a:r>
            <a:r>
              <a:rPr dirty="0" sz="2300" spc="-10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DDDDDD"/>
                </a:solidFill>
                <a:latin typeface="Arial MT"/>
                <a:cs typeface="Arial MT"/>
              </a:rPr>
              <a:t>a</a:t>
            </a:r>
            <a:r>
              <a:rPr dirty="0" sz="2300" spc="5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DDDDD"/>
                </a:solidFill>
                <a:latin typeface="Arial MT"/>
                <a:cs typeface="Arial MT"/>
              </a:rPr>
              <a:t>small</a:t>
            </a:r>
            <a:r>
              <a:rPr dirty="0" sz="2300" spc="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DFDFDF"/>
                </a:solidFill>
                <a:latin typeface="Arial MT"/>
                <a:cs typeface="Arial MT"/>
              </a:rPr>
              <a:t>seg</a:t>
            </a:r>
            <a:r>
              <a:rPr dirty="0" sz="2300" spc="60">
                <a:solidFill>
                  <a:srgbClr val="E4E4E4"/>
                </a:solidFill>
                <a:latin typeface="Arial MT"/>
                <a:cs typeface="Arial MT"/>
              </a:rPr>
              <a:t>ment.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980525" y="6171666"/>
            <a:ext cx="239331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DDDDDD"/>
                </a:solidFill>
                <a:latin typeface="Arial MT"/>
                <a:cs typeface="Arial MT"/>
              </a:rPr>
              <a:t>VLANs</a:t>
            </a:r>
            <a:r>
              <a:rPr dirty="0" sz="2300" spc="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FDFDF"/>
                </a:solidFill>
                <a:latin typeface="Arial MT"/>
                <a:cs typeface="Arial MT"/>
              </a:rPr>
              <a:t>&amp;</a:t>
            </a:r>
            <a:r>
              <a:rPr dirty="0" sz="2300" spc="-16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DFDFDF"/>
                </a:solidFill>
                <a:latin typeface="Arial MT"/>
                <a:cs typeface="Arial MT"/>
              </a:rPr>
              <a:t>Subnets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962007" y="6767198"/>
            <a:ext cx="4090670" cy="1030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80">
              <a:lnSpc>
                <a:spcPct val="129299"/>
              </a:lnSpc>
              <a:spcBef>
                <a:spcPts val="95"/>
              </a:spcBef>
            </a:pP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Sofiwore-Defined</a:t>
            </a:r>
            <a:r>
              <a:rPr dirty="0" sz="2550" spc="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70">
                <a:solidFill>
                  <a:srgbClr val="E1E1E1"/>
                </a:solidFill>
                <a:latin typeface="Arial MT"/>
                <a:cs typeface="Arial MT"/>
              </a:rPr>
              <a:t>Perimeters </a:t>
            </a:r>
            <a:r>
              <a:rPr dirty="0" sz="2550" spc="-10">
                <a:solidFill>
                  <a:srgbClr val="DDDDDD"/>
                </a:solidFill>
                <a:latin typeface="Arial MT"/>
                <a:cs typeface="Arial MT"/>
              </a:rPr>
              <a:t>(SDP)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66374" y="8150663"/>
            <a:ext cx="394398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solidFill>
                  <a:srgbClr val="E6E6E6"/>
                </a:solidFill>
                <a:latin typeface="Arial MT"/>
                <a:cs typeface="Arial MT"/>
              </a:rPr>
              <a:t>East-</a:t>
            </a:r>
            <a:r>
              <a:rPr dirty="0" sz="2300" spc="85">
                <a:solidFill>
                  <a:srgbClr val="E6E6E6"/>
                </a:solidFill>
                <a:latin typeface="Arial MT"/>
                <a:cs typeface="Arial MT"/>
              </a:rPr>
              <a:t>West</a:t>
            </a:r>
            <a:r>
              <a:rPr dirty="0" sz="2300" spc="20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FDFDF"/>
                </a:solidFill>
                <a:latin typeface="Arial MT"/>
                <a:cs typeface="Arial MT"/>
              </a:rPr>
              <a:t>TroPic</a:t>
            </a:r>
            <a:r>
              <a:rPr dirty="0" sz="2300" spc="1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45">
                <a:solidFill>
                  <a:srgbClr val="E2E2E2"/>
                </a:solidFill>
                <a:latin typeface="Arial MT"/>
                <a:cs typeface="Arial MT"/>
              </a:rPr>
              <a:t>Inspection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385638" y="4019899"/>
            <a:ext cx="556260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5">
                <a:solidFill>
                  <a:srgbClr val="E4E4E4"/>
                </a:solidFill>
                <a:latin typeface="Arial MT"/>
                <a:cs typeface="Arial MT"/>
              </a:rPr>
              <a:t>Protecting</a:t>
            </a:r>
            <a:r>
              <a:rPr dirty="0" sz="2300" spc="9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DFDFDF"/>
                </a:solidFill>
                <a:latin typeface="Arial MT"/>
                <a:cs typeface="Arial MT"/>
              </a:rPr>
              <a:t>the</a:t>
            </a:r>
            <a:r>
              <a:rPr dirty="0" sz="2300" spc="-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E1E1E1"/>
                </a:solidFill>
                <a:latin typeface="Arial MT"/>
                <a:cs typeface="Arial MT"/>
              </a:rPr>
              <a:t>asset</a:t>
            </a:r>
            <a:r>
              <a:rPr dirty="0" sz="2300" spc="-7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E4E4E4"/>
                </a:solidFill>
                <a:latin typeface="Arial MT"/>
                <a:cs typeface="Arial MT"/>
              </a:rPr>
              <a:t>itself.</a:t>
            </a:r>
            <a:r>
              <a:rPr dirty="0" sz="2300" spc="1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165">
                <a:solidFill>
                  <a:srgbClr val="DDDDDD"/>
                </a:solidFill>
                <a:latin typeface="Arial MT"/>
                <a:cs typeface="Arial MT"/>
              </a:rPr>
              <a:t>Data</a:t>
            </a:r>
            <a:r>
              <a:rPr dirty="0" sz="2300" spc="5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DFDFDF"/>
                </a:solidFill>
                <a:latin typeface="Arial MT"/>
                <a:cs typeface="Arial MT"/>
              </a:rPr>
              <a:t>must</a:t>
            </a:r>
            <a:r>
              <a:rPr dirty="0" sz="230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E2E2E2"/>
                </a:solidFill>
                <a:latin typeface="Arial MT"/>
                <a:cs typeface="Arial MT"/>
              </a:rPr>
              <a:t>be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381663" y="4522502"/>
            <a:ext cx="566737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85">
                <a:solidFill>
                  <a:srgbClr val="DDDDDD"/>
                </a:solidFill>
                <a:latin typeface="Arial MT"/>
                <a:cs typeface="Arial MT"/>
              </a:rPr>
              <a:t>unreadable</a:t>
            </a:r>
            <a:r>
              <a:rPr dirty="0" sz="2300" spc="114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DADADA"/>
                </a:solidFill>
                <a:latin typeface="Arial MT"/>
                <a:cs typeface="Arial MT"/>
              </a:rPr>
              <a:t>to</a:t>
            </a:r>
            <a:r>
              <a:rPr dirty="0" sz="2300" spc="-1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E4E4E4"/>
                </a:solidFill>
                <a:latin typeface="Arial MT"/>
                <a:cs typeface="Arial MT"/>
              </a:rPr>
              <a:t>unauthorized</a:t>
            </a:r>
            <a:r>
              <a:rPr dirty="0" sz="2300" spc="21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DDDDDD"/>
                </a:solidFill>
                <a:latin typeface="Arial MT"/>
                <a:cs typeface="Arial MT"/>
              </a:rPr>
              <a:t>entities</a:t>
            </a:r>
            <a:r>
              <a:rPr dirty="0" sz="2300" spc="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DDDDDD"/>
                </a:solidFill>
                <a:latin typeface="Arial MT"/>
                <a:cs typeface="Arial MT"/>
              </a:rPr>
              <a:t>at</a:t>
            </a:r>
            <a:r>
              <a:rPr dirty="0" sz="2300" spc="19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DDDDDD"/>
                </a:solidFill>
                <a:latin typeface="Arial MT"/>
                <a:cs typeface="Arial MT"/>
              </a:rPr>
              <a:t>all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386902" y="4992383"/>
            <a:ext cx="85344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45">
                <a:solidFill>
                  <a:srgbClr val="E1E1E1"/>
                </a:solidFill>
                <a:latin typeface="Arial MT"/>
                <a:cs typeface="Arial MT"/>
              </a:rPr>
              <a:t>times.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183495" y="6138945"/>
            <a:ext cx="3989704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40">
                <a:solidFill>
                  <a:srgbClr val="DBDBDB"/>
                </a:solidFill>
                <a:latin typeface="Arial MT"/>
                <a:cs typeface="Arial MT"/>
              </a:rPr>
              <a:t>Encryption</a:t>
            </a:r>
            <a:r>
              <a:rPr dirty="0" sz="2550" spc="-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80">
                <a:solidFill>
                  <a:srgbClr val="E2E2E2"/>
                </a:solidFill>
                <a:latin typeface="Arial MT"/>
                <a:cs typeface="Arial MT"/>
              </a:rPr>
              <a:t>at</a:t>
            </a:r>
            <a:r>
              <a:rPr dirty="0" sz="2550" spc="-2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140">
                <a:solidFill>
                  <a:srgbClr val="DDDDDD"/>
                </a:solidFill>
                <a:latin typeface="Arial MT"/>
                <a:cs typeface="Arial MT"/>
              </a:rPr>
              <a:t>Rest</a:t>
            </a:r>
            <a:r>
              <a:rPr dirty="0" sz="2550" spc="-114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135">
                <a:solidFill>
                  <a:srgbClr val="E2E2E2"/>
                </a:solidFill>
                <a:latin typeface="Arial MT"/>
                <a:cs typeface="Arial MT"/>
              </a:rPr>
              <a:t>(AES-</a:t>
            </a:r>
            <a:r>
              <a:rPr dirty="0" sz="2550" spc="-80">
                <a:solidFill>
                  <a:srgbClr val="E2E2E2"/>
                </a:solidFill>
                <a:latin typeface="Arial MT"/>
                <a:cs typeface="Arial MT"/>
              </a:rPr>
              <a:t>256)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186079" y="6909864"/>
            <a:ext cx="4043679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solidFill>
                  <a:srgbClr val="DFDFDF"/>
                </a:solidFill>
                <a:latin typeface="Arial MT"/>
                <a:cs typeface="Arial MT"/>
              </a:rPr>
              <a:t>Encryption</a:t>
            </a:r>
            <a:r>
              <a:rPr dirty="0" sz="2300" spc="-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DADADA"/>
                </a:solidFill>
                <a:latin typeface="Arial MT"/>
                <a:cs typeface="Arial MT"/>
              </a:rPr>
              <a:t>in</a:t>
            </a:r>
            <a:r>
              <a:rPr dirty="0" sz="2300" spc="-15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E1E1E1"/>
                </a:solidFill>
                <a:latin typeface="Arial MT"/>
                <a:cs typeface="Arial MT"/>
              </a:rPr>
              <a:t>Transit</a:t>
            </a:r>
            <a:r>
              <a:rPr dirty="0" sz="2300" spc="-4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300" spc="-45">
                <a:solidFill>
                  <a:srgbClr val="DDDDDD"/>
                </a:solidFill>
                <a:latin typeface="Arial MT"/>
                <a:cs typeface="Arial MT"/>
              </a:rPr>
              <a:t>(TLS</a:t>
            </a:r>
            <a:r>
              <a:rPr dirty="0" sz="2300" spc="-2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E8E8E8"/>
                </a:solidFill>
                <a:latin typeface="Arial MT"/>
                <a:cs typeface="Arial MT"/>
              </a:rPr>
              <a:t>1.5)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186661" y="7648061"/>
            <a:ext cx="382206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65">
                <a:solidFill>
                  <a:srgbClr val="E6E6E6"/>
                </a:solidFill>
                <a:latin typeface="Arial MT"/>
                <a:cs typeface="Arial MT"/>
              </a:rPr>
              <a:t>Data</a:t>
            </a:r>
            <a:r>
              <a:rPr dirty="0" sz="2300" spc="-1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1E1E1"/>
                </a:solidFill>
                <a:latin typeface="Arial MT"/>
                <a:cs typeface="Arial MT"/>
              </a:rPr>
              <a:t>Loss</a:t>
            </a:r>
            <a:r>
              <a:rPr dirty="0" sz="2300" spc="-3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E8E8E8"/>
                </a:solidFill>
                <a:latin typeface="Arial MT"/>
                <a:cs typeface="Arial MT"/>
              </a:rPr>
              <a:t>Prevention</a:t>
            </a:r>
            <a:r>
              <a:rPr dirty="0" sz="2300" spc="-8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E4E4E4"/>
                </a:solidFill>
                <a:latin typeface="Arial MT"/>
                <a:cs typeface="Arial MT"/>
              </a:rPr>
              <a:t>(DLP)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2905670"/>
            <a:ext cx="20080605" cy="510540"/>
          </a:xfrm>
          <a:custGeom>
            <a:avLst/>
            <a:gdLst/>
            <a:ahLst/>
            <a:cxnLst/>
            <a:rect l="l" t="t" r="r" b="b"/>
            <a:pathLst>
              <a:path w="20080605" h="510539">
                <a:moveTo>
                  <a:pt x="20080541" y="510455"/>
                </a:moveTo>
                <a:lnTo>
                  <a:pt x="0" y="51045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10455"/>
                </a:lnTo>
                <a:close/>
              </a:path>
            </a:pathLst>
          </a:custGeom>
          <a:solidFill>
            <a:srgbClr val="59AA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2329" y="2868102"/>
            <a:ext cx="5668010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200" algn="l"/>
              </a:tabLst>
            </a:pPr>
            <a:r>
              <a:rPr dirty="0" spc="290"/>
              <a:t>@</a:t>
            </a:r>
            <a:r>
              <a:rPr dirty="0"/>
              <a:t>	Building</a:t>
            </a:r>
            <a:r>
              <a:rPr dirty="0" spc="165"/>
              <a:t> </a:t>
            </a:r>
            <a:r>
              <a:rPr dirty="0"/>
              <a:t>łhe</a:t>
            </a:r>
            <a:r>
              <a:rPr dirty="0" spc="400"/>
              <a:t> </a:t>
            </a:r>
            <a:r>
              <a:rPr dirty="0" spc="85"/>
              <a:t>Environment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170810" y="2884462"/>
            <a:ext cx="422338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160">
                <a:solidFill>
                  <a:srgbClr val="FFFFFF"/>
                </a:solidFill>
                <a:latin typeface="Arial MT"/>
                <a:cs typeface="Arial MT"/>
              </a:rPr>
              <a:t>Applying</a:t>
            </a:r>
            <a:r>
              <a:rPr dirty="0" sz="32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204">
                <a:solidFill>
                  <a:srgbClr val="FFFFFF"/>
                </a:solidFill>
                <a:latin typeface="Arial MT"/>
                <a:cs typeface="Arial MT"/>
              </a:rPr>
              <a:t>IAM</a:t>
            </a:r>
            <a:r>
              <a:rPr dirty="0" sz="32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45">
                <a:solidFill>
                  <a:srgbClr val="FFFFFF"/>
                </a:solidFill>
                <a:latin typeface="Arial MT"/>
                <a:cs typeface="Arial MT"/>
              </a:rPr>
              <a:t>Policies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5706" y="3769518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52A8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57698" y="3722133"/>
            <a:ext cx="829246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95">
                <a:solidFill>
                  <a:srgbClr val="DDDDDD"/>
                </a:solidFill>
                <a:latin typeface="Arial MT"/>
                <a:cs typeface="Arial MT"/>
              </a:rPr>
              <a:t>We</a:t>
            </a:r>
            <a:r>
              <a:rPr dirty="0" sz="2200" spc="7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75">
                <a:solidFill>
                  <a:srgbClr val="E4E4E4"/>
                </a:solidFill>
                <a:latin typeface="Arial MT"/>
                <a:cs typeface="Arial MT"/>
              </a:rPr>
              <a:t>simulate</a:t>
            </a:r>
            <a:r>
              <a:rPr dirty="0" sz="2200" spc="17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000F1F"/>
                </a:solidFill>
                <a:latin typeface="Arial MT"/>
                <a:cs typeface="Arial MT"/>
              </a:rPr>
              <a:t>a</a:t>
            </a:r>
            <a:r>
              <a:rPr dirty="0" sz="2200" spc="55">
                <a:solidFill>
                  <a:srgbClr val="000F1F"/>
                </a:solidFill>
                <a:latin typeface="Arial MT"/>
                <a:cs typeface="Arial MT"/>
              </a:rPr>
              <a:t> </a:t>
            </a:r>
            <a:r>
              <a:rPr dirty="0" sz="2200" spc="160">
                <a:solidFill>
                  <a:srgbClr val="DFDFDF"/>
                </a:solidFill>
                <a:latin typeface="Arial MT"/>
                <a:cs typeface="Arial MT"/>
              </a:rPr>
              <a:t>corporate</a:t>
            </a:r>
            <a:r>
              <a:rPr dirty="0" sz="2200" spc="1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200" spc="150">
                <a:solidFill>
                  <a:srgbClr val="DDDDDD"/>
                </a:solidFill>
                <a:latin typeface="Arial MT"/>
                <a:cs typeface="Arial MT"/>
              </a:rPr>
              <a:t>network</a:t>
            </a:r>
            <a:r>
              <a:rPr dirty="0" sz="2200" spc="7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BDBDB"/>
                </a:solidFill>
                <a:latin typeface="Arial MT"/>
                <a:cs typeface="Arial MT"/>
              </a:rPr>
              <a:t>using</a:t>
            </a:r>
            <a:r>
              <a:rPr dirty="0" sz="2200" spc="1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114">
                <a:solidFill>
                  <a:srgbClr val="E2E2E2"/>
                </a:solidFill>
                <a:latin typeface="Arial MT"/>
                <a:cs typeface="Arial MT"/>
              </a:rPr>
              <a:t>virtualization</a:t>
            </a:r>
            <a:r>
              <a:rPr dirty="0" sz="2200" spc="-12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E1E1E1"/>
                </a:solidFill>
                <a:latin typeface="Arial MT"/>
                <a:cs typeface="Arial MT"/>
              </a:rPr>
              <a:t>tools</a:t>
            </a:r>
            <a:r>
              <a:rPr dirty="0" sz="2200" spc="12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200" spc="30">
                <a:solidFill>
                  <a:srgbClr val="DDDDDD"/>
                </a:solidFill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33861" y="3722133"/>
            <a:ext cx="832485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59600" algn="l"/>
              </a:tabLst>
            </a:pPr>
            <a:r>
              <a:rPr dirty="0" sz="2200" spc="105">
                <a:solidFill>
                  <a:srgbClr val="E6E6E6"/>
                </a:solidFill>
                <a:latin typeface="Arial MT"/>
                <a:cs typeface="Arial MT"/>
              </a:rPr>
              <a:t>Configuring</a:t>
            </a:r>
            <a:r>
              <a:rPr dirty="0" sz="2200" spc="22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200" spc="105">
                <a:solidFill>
                  <a:srgbClr val="DDDDDD"/>
                </a:solidFill>
                <a:latin typeface="Arial MT"/>
                <a:cs typeface="Arial MT"/>
              </a:rPr>
              <a:t>the</a:t>
            </a:r>
            <a:r>
              <a:rPr dirty="0" sz="2200" spc="10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DBDBDB"/>
                </a:solidFill>
                <a:latin typeface="Arial MT"/>
                <a:cs typeface="Arial MT"/>
              </a:rPr>
              <a:t>log</a:t>
            </a:r>
            <a:r>
              <a:rPr dirty="0" sz="2200" spc="50">
                <a:solidFill>
                  <a:srgbClr val="D8D8D8"/>
                </a:solidFill>
                <a:latin typeface="Arial MT"/>
                <a:cs typeface="Arial MT"/>
              </a:rPr>
              <a:t>ic</a:t>
            </a:r>
            <a:r>
              <a:rPr dirty="0" sz="2200" spc="12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 spc="204">
                <a:solidFill>
                  <a:srgbClr val="D4D4D4"/>
                </a:solidFill>
                <a:latin typeface="Arial MT"/>
                <a:cs typeface="Arial MT"/>
              </a:rPr>
              <a:t>that</a:t>
            </a:r>
            <a:r>
              <a:rPr dirty="0" sz="2200" spc="-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DDDDDD"/>
                </a:solidFill>
                <a:latin typeface="Arial MT"/>
                <a:cs typeface="Arial MT"/>
              </a:rPr>
              <a:t>decides</a:t>
            </a:r>
            <a:r>
              <a:rPr dirty="0" sz="2200" spc="2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DFDFDF"/>
                </a:solidFill>
                <a:latin typeface="Arial MT"/>
                <a:cs typeface="Arial MT"/>
              </a:rPr>
              <a:t>who</a:t>
            </a:r>
            <a:r>
              <a:rPr dirty="0" sz="2200" spc="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E2E2E2"/>
                </a:solidFill>
                <a:latin typeface="Arial MT"/>
                <a:cs typeface="Arial MT"/>
              </a:rPr>
              <a:t>gets</a:t>
            </a:r>
            <a:r>
              <a:rPr dirty="0" sz="2200" spc="114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4D4D4"/>
                </a:solidFill>
                <a:latin typeface="Arial MT"/>
                <a:cs typeface="Arial MT"/>
              </a:rPr>
              <a:t>in </a:t>
            </a:r>
            <a:r>
              <a:rPr dirty="0" sz="2200" spc="-25">
                <a:solidFill>
                  <a:srgbClr val="DBDBDB"/>
                </a:solidFill>
                <a:latin typeface="Arial MT"/>
                <a:cs typeface="Arial MT"/>
              </a:rPr>
              <a:t>and</a:t>
            </a:r>
            <a:r>
              <a:rPr dirty="0" sz="2200">
                <a:solidFill>
                  <a:srgbClr val="DBDBDB"/>
                </a:solidFill>
                <a:latin typeface="Arial MT"/>
                <a:cs typeface="Arial MT"/>
              </a:rPr>
              <a:t>	who</a:t>
            </a:r>
            <a:r>
              <a:rPr dirty="0" sz="2200" spc="39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70">
                <a:solidFill>
                  <a:srgbClr val="DFDFDF"/>
                </a:solidFill>
                <a:latin typeface="Arial MT"/>
                <a:cs typeface="Arial MT"/>
              </a:rPr>
              <a:t>stays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5706" y="4287827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52A8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48062" y="4208375"/>
            <a:ext cx="259334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05">
                <a:solidFill>
                  <a:srgbClr val="DDDDDD"/>
                </a:solidFill>
                <a:latin typeface="Arial MT"/>
                <a:cs typeface="Arial MT"/>
              </a:rPr>
              <a:t>test</a:t>
            </a:r>
            <a:r>
              <a:rPr dirty="0" sz="2300" spc="-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FDFDF"/>
                </a:solidFill>
                <a:latin typeface="Arial MT"/>
                <a:cs typeface="Arial MT"/>
              </a:rPr>
              <a:t>policies</a:t>
            </a:r>
            <a:r>
              <a:rPr dirty="0" sz="2300" spc="18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E4E4E4"/>
                </a:solidFill>
                <a:latin typeface="Arial MT"/>
                <a:cs typeface="Arial MT"/>
              </a:rPr>
              <a:t>safely.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425710" y="4192015"/>
            <a:ext cx="52387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50">
                <a:solidFill>
                  <a:srgbClr val="E4E4E4"/>
                </a:solidFill>
                <a:latin typeface="Courier New"/>
                <a:cs typeface="Courier New"/>
              </a:rPr>
              <a:t>out</a:t>
            </a:r>
            <a:endParaRPr sz="24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573280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5706" y="6062642"/>
            <a:ext cx="20080605" cy="384810"/>
          </a:xfrm>
          <a:custGeom>
            <a:avLst/>
            <a:gdLst/>
            <a:ahLst/>
            <a:cxnLst/>
            <a:rect l="l" t="t" r="r" b="b"/>
            <a:pathLst>
              <a:path w="20080605" h="384810">
                <a:moveTo>
                  <a:pt x="20080541" y="384805"/>
                </a:moveTo>
                <a:lnTo>
                  <a:pt x="0" y="38480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8480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270271" y="5627482"/>
            <a:ext cx="6851015" cy="67119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Usin</a:t>
            </a:r>
            <a:r>
              <a:rPr dirty="0" sz="1800" spc="-3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dirty="0" sz="1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Arial MT"/>
                <a:cs typeface="Arial MT"/>
              </a:rPr>
              <a:t>VMwa</a:t>
            </a:r>
            <a:r>
              <a:rPr dirty="0" sz="1800" spc="-2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Arial MT"/>
                <a:cs typeface="Arial MT"/>
              </a:rPr>
              <a:t>re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dirty="0" sz="18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6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1800" spc="-2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Arial MT"/>
                <a:cs typeface="Arial MT"/>
              </a:rPr>
              <a:t>irtucil</a:t>
            </a:r>
            <a:r>
              <a:rPr dirty="0" sz="1800" spc="-3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Box</a:t>
            </a:r>
            <a:r>
              <a:rPr dirty="0" sz="180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800" spc="2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Arial MT"/>
                <a:cs typeface="Arial MT"/>
              </a:rPr>
              <a:t>create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iso</a:t>
            </a:r>
            <a:r>
              <a:rPr dirty="0" sz="180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114">
                <a:solidFill>
                  <a:srgbClr val="FFFFFF"/>
                </a:solidFill>
                <a:latin typeface="Arial MT"/>
                <a:cs typeface="Arial MT"/>
              </a:rPr>
              <a:t>ated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Arial MT"/>
                <a:cs typeface="Arial MT"/>
              </a:rPr>
              <a:t>segments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(HR,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360045" algn="l"/>
              </a:tabLst>
            </a:pP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Fi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	an</a:t>
            </a:r>
            <a:r>
              <a:rPr dirty="0" sz="1650" spc="-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ce,</a:t>
            </a:r>
            <a:r>
              <a:rPr dirty="0" sz="165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6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6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706" y="6580951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669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0925477" y="6510661"/>
            <a:ext cx="352234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75">
                <a:solidFill>
                  <a:srgbClr val="E2E2E2"/>
                </a:solidFill>
                <a:latin typeface="Consolas"/>
                <a:cs typeface="Consolas"/>
              </a:rPr>
              <a:t>AND</a:t>
            </a:r>
            <a:r>
              <a:rPr dirty="0" sz="2050" spc="-105">
                <a:solidFill>
                  <a:srgbClr val="E2E2E2"/>
                </a:solidFill>
                <a:latin typeface="Consolas"/>
                <a:cs typeface="Consolas"/>
              </a:rPr>
              <a:t> </a:t>
            </a:r>
            <a:r>
              <a:rPr dirty="0" sz="2050" spc="-155">
                <a:solidFill>
                  <a:srgbClr val="E8E8E8"/>
                </a:solidFill>
                <a:latin typeface="Consolas"/>
                <a:cs typeface="Consolas"/>
              </a:rPr>
              <a:t>device.isManaged</a:t>
            </a:r>
            <a:r>
              <a:rPr dirty="0" sz="2050" spc="-125">
                <a:solidFill>
                  <a:srgbClr val="E8E8E8"/>
                </a:solidFill>
                <a:latin typeface="Consolas"/>
                <a:cs typeface="Consolas"/>
              </a:rPr>
              <a:t> </a:t>
            </a:r>
            <a:r>
              <a:rPr dirty="0" sz="2050" spc="-105">
                <a:solidFill>
                  <a:srgbClr val="DBDBDB"/>
                </a:solidFill>
                <a:latin typeface="Consolas"/>
                <a:cs typeface="Consolas"/>
              </a:rPr>
              <a:t>==</a:t>
            </a:r>
            <a:r>
              <a:rPr dirty="0" sz="2050" spc="-65">
                <a:solidFill>
                  <a:srgbClr val="DBDBDB"/>
                </a:solidFill>
                <a:latin typeface="Consolas"/>
                <a:cs typeface="Consolas"/>
              </a:rPr>
              <a:t> </a:t>
            </a:r>
            <a:r>
              <a:rPr dirty="0" sz="2050" spc="-110">
                <a:solidFill>
                  <a:srgbClr val="E4E4E4"/>
                </a:solidFill>
                <a:latin typeface="Consolas"/>
                <a:cs typeface="Consolas"/>
              </a:rPr>
              <a:t>TRUE</a:t>
            </a:r>
            <a:endParaRPr sz="2050">
              <a:latin typeface="Consolas"/>
              <a:cs typeface="Consola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5706" y="6973609"/>
            <a:ext cx="20088860" cy="267335"/>
            <a:chOff x="15706" y="6973609"/>
            <a:chExt cx="20088860" cy="26733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6973609"/>
              <a:ext cx="20088393" cy="26700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6973609"/>
              <a:ext cx="20088393" cy="267007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15706" y="7381974"/>
            <a:ext cx="20088860" cy="236220"/>
            <a:chOff x="15706" y="7381974"/>
            <a:chExt cx="20088860" cy="236220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7381974"/>
              <a:ext cx="20088393" cy="23559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7381974"/>
              <a:ext cx="20088393" cy="235594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5706" y="7696100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984717" y="7650679"/>
            <a:ext cx="12636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5">
                <a:solidFill>
                  <a:srgbClr val="FFFFFF"/>
                </a:solidFill>
                <a:latin typeface="Arial MT"/>
                <a:cs typeface="Arial MT"/>
              </a:rPr>
              <a:t>opgl</a:t>
            </a:r>
            <a:r>
              <a:rPr dirty="0" sz="1800" spc="-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Arial MT"/>
                <a:cs typeface="Arial MT"/>
              </a:rPr>
              <a:t>icatio</a:t>
            </a:r>
            <a:r>
              <a:rPr dirty="0" sz="1800" spc="-3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270604" y="7611413"/>
            <a:ext cx="453771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14500"/>
              </a:lnSpc>
              <a:spcBef>
                <a:spcPts val="100"/>
              </a:spcBef>
            </a:pPr>
            <a:r>
              <a:rPr dirty="0" sz="1800" spc="70">
                <a:solidFill>
                  <a:srgbClr val="FFFFFF"/>
                </a:solidFill>
                <a:latin typeface="Arial MT"/>
                <a:cs typeface="Arial MT"/>
              </a:rPr>
              <a:t>Deploy!</a:t>
            </a:r>
            <a:r>
              <a:rPr dirty="0" sz="1800" spc="-3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r>
              <a:rPr dirty="0" sz="1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serv!</a:t>
            </a:r>
            <a:r>
              <a:rPr dirty="0" sz="1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ces</a:t>
            </a:r>
            <a:r>
              <a:rPr dirty="0" sz="18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dirty="0" sz="18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Arial MT"/>
                <a:cs typeface="Arial MT"/>
              </a:rPr>
              <a:t>Doc</a:t>
            </a:r>
            <a:r>
              <a:rPr dirty="0" sz="1800" spc="-25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ber</a:t>
            </a:r>
            <a:r>
              <a:rPr dirty="0" sz="18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8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 MT"/>
                <a:cs typeface="Arial MT"/>
              </a:rPr>
              <a:t>s!muIate </a:t>
            </a:r>
            <a:r>
              <a:rPr dirty="0" sz="1800" spc="95">
                <a:solidFill>
                  <a:srgbClr val="FFFFFF"/>
                </a:solidFill>
                <a:latin typeface="Arial MT"/>
                <a:cs typeface="Arial MT"/>
              </a:rPr>
              <a:t>wor</a:t>
            </a:r>
            <a:r>
              <a:rPr dirty="0" sz="180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kloads.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Scenario</a:t>
            </a:r>
            <a:r>
              <a:rPr dirty="0" spc="-65"/>
              <a:t> </a:t>
            </a:r>
            <a:r>
              <a:rPr dirty="0" spc="120"/>
              <a:t>A:</a:t>
            </a:r>
            <a:r>
              <a:rPr dirty="0" spc="-320"/>
              <a:t> </a:t>
            </a:r>
            <a:r>
              <a:rPr dirty="0" spc="70"/>
              <a:t>The</a:t>
            </a:r>
            <a:r>
              <a:rPr dirty="0" spc="-335"/>
              <a:t> </a:t>
            </a:r>
            <a:r>
              <a:rPr dirty="0" spc="55"/>
              <a:t>Insider</a:t>
            </a:r>
            <a:r>
              <a:rPr dirty="0" spc="-45"/>
              <a:t> </a:t>
            </a:r>
            <a:r>
              <a:rPr dirty="0" spc="130"/>
              <a:t>Threat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7533" y="3563106"/>
            <a:ext cx="7578090" cy="1030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">
              <a:lnSpc>
                <a:spcPct val="129299"/>
              </a:lnSpc>
              <a:spcBef>
                <a:spcPts val="95"/>
              </a:spcBef>
            </a:pPr>
            <a:r>
              <a:rPr dirty="0" sz="2550" spc="-275">
                <a:solidFill>
                  <a:srgbClr val="E2E2E2"/>
                </a:solidFill>
                <a:latin typeface="Arial MT"/>
                <a:cs typeface="Arial MT"/>
              </a:rPr>
              <a:t>A</a:t>
            </a:r>
            <a:r>
              <a:rPr dirty="0" sz="2550" spc="-2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 spc="-80">
                <a:solidFill>
                  <a:srgbClr val="DBDBDB"/>
                </a:solidFill>
                <a:latin typeface="Arial MT"/>
                <a:cs typeface="Arial MT"/>
              </a:rPr>
              <a:t>user</a:t>
            </a:r>
            <a:r>
              <a:rPr dirty="0" sz="2550" spc="-9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-90">
                <a:solidFill>
                  <a:srgbClr val="D8D8D8"/>
                </a:solidFill>
                <a:latin typeface="Arial MT"/>
                <a:cs typeface="Arial MT"/>
              </a:rPr>
              <a:t>in</a:t>
            </a:r>
            <a:r>
              <a:rPr dirty="0" sz="2550" spc="-13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"Marketing"</a:t>
            </a:r>
            <a:r>
              <a:rPr dirty="0" sz="2550" spc="10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ofiempts </a:t>
            </a:r>
            <a:r>
              <a:rPr dirty="0" sz="2550">
                <a:solidFill>
                  <a:srgbClr val="D8D8D8"/>
                </a:solidFill>
                <a:latin typeface="Arial MT"/>
                <a:cs typeface="Arial MT"/>
              </a:rPr>
              <a:t>to</a:t>
            </a:r>
            <a:r>
              <a:rPr dirty="0" sz="2550" spc="-19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DFDFDF"/>
                </a:solidFill>
                <a:latin typeface="Arial MT"/>
                <a:cs typeface="Arial MT"/>
              </a:rPr>
              <a:t>access</a:t>
            </a:r>
            <a:r>
              <a:rPr dirty="0" sz="2550" spc="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DDDDDD"/>
                </a:solidFill>
                <a:latin typeface="Arial MT"/>
                <a:cs typeface="Arial MT"/>
              </a:rPr>
              <a:t>"Engineering" </a:t>
            </a:r>
            <a:r>
              <a:rPr dirty="0" sz="2550" spc="-25">
                <a:solidFill>
                  <a:srgbClr val="DDDDDD"/>
                </a:solidFill>
                <a:latin typeface="Arial MT"/>
                <a:cs typeface="Arial MT"/>
              </a:rPr>
              <a:t>blueprints</a:t>
            </a:r>
            <a:r>
              <a:rPr dirty="0" sz="2550" spc="-9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DBDBDB"/>
                </a:solidFill>
                <a:latin typeface="Arial MT"/>
                <a:cs typeface="Arial MT"/>
              </a:rPr>
              <a:t>via</a:t>
            </a:r>
            <a:r>
              <a:rPr dirty="0" sz="2550" spc="-1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lateral</a:t>
            </a:r>
            <a:r>
              <a:rPr dirty="0" sz="2550" spc="-17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9E9E9"/>
                </a:solidFill>
                <a:latin typeface="Arial MT"/>
                <a:cs typeface="Arial MT"/>
              </a:rPr>
              <a:t>movement.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57232" y="5604275"/>
            <a:ext cx="7330440" cy="8426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41000"/>
              </a:lnSpc>
              <a:spcBef>
                <a:spcPts val="95"/>
              </a:spcBef>
            </a:pP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Compromised</a:t>
            </a:r>
            <a:r>
              <a:rPr dirty="0" sz="1900" spc="229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50">
                <a:solidFill>
                  <a:srgbClr val="E2E2E2"/>
                </a:solidFill>
                <a:latin typeface="Arial MT"/>
                <a:cs typeface="Arial MT"/>
              </a:rPr>
              <a:t>credential</a:t>
            </a:r>
            <a:r>
              <a:rPr dirty="0" sz="1900" spc="18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attempts</a:t>
            </a:r>
            <a:r>
              <a:rPr dirty="0" sz="1900" spc="33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-150">
                <a:solidFill>
                  <a:srgbClr val="DFDFDF"/>
                </a:solidFill>
                <a:latin typeface="Arial MT"/>
                <a:cs typeface="Arial MT"/>
              </a:rPr>
              <a:t>SSH</a:t>
            </a:r>
            <a:r>
              <a:rPr dirty="0" sz="1900" spc="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2E2E2"/>
                </a:solidFill>
                <a:latin typeface="Arial MT"/>
                <a:cs typeface="Arial MT"/>
              </a:rPr>
              <a:t>connection</a:t>
            </a:r>
            <a:r>
              <a:rPr dirty="0" sz="1900" spc="28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to</a:t>
            </a:r>
            <a:r>
              <a:rPr dirty="0" sz="1900" spc="229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E2E2E2"/>
                </a:solidFill>
                <a:latin typeface="Arial MT"/>
                <a:cs typeface="Arial MT"/>
              </a:rPr>
              <a:t>Engineering </a:t>
            </a:r>
            <a:r>
              <a:rPr dirty="0" sz="1900">
                <a:solidFill>
                  <a:srgbClr val="E8E8E8"/>
                </a:solidFill>
                <a:latin typeface="Arial MT"/>
                <a:cs typeface="Arial MT"/>
              </a:rPr>
              <a:t>Server</a:t>
            </a:r>
            <a:r>
              <a:rPr dirty="0" sz="1900" spc="229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E6E6E6"/>
                </a:solidFill>
                <a:latin typeface="Arial MT"/>
                <a:cs typeface="Arial MT"/>
              </a:rPr>
              <a:t>IP.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1480" y="7928812"/>
            <a:ext cx="7752715" cy="8426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 marR="5080" indent="-7620">
              <a:lnSpc>
                <a:spcPct val="141000"/>
              </a:lnSpc>
              <a:spcBef>
                <a:spcPts val="95"/>
              </a:spcBef>
            </a:pPr>
            <a:r>
              <a:rPr dirty="0" sz="1900">
                <a:solidFill>
                  <a:srgbClr val="428EAA"/>
                </a:solidFill>
                <a:latin typeface="Arial MT"/>
                <a:cs typeface="Arial MT"/>
              </a:rPr>
              <a:t>Blocf‹ed.</a:t>
            </a:r>
            <a:r>
              <a:rPr dirty="0" sz="1900" spc="180">
                <a:solidFill>
                  <a:srgbClr val="428EAA"/>
                </a:solidFill>
                <a:latin typeface="Arial MT"/>
                <a:cs typeface="Arial MT"/>
              </a:rPr>
              <a:t> </a:t>
            </a:r>
            <a:r>
              <a:rPr dirty="0" sz="1900" spc="55">
                <a:solidFill>
                  <a:srgbClr val="E1E1E1"/>
                </a:solidFill>
                <a:latin typeface="Arial MT"/>
                <a:cs typeface="Arial MT"/>
              </a:rPr>
              <a:t>Network</a:t>
            </a:r>
            <a:r>
              <a:rPr dirty="0" sz="1900" spc="21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E1E1E1"/>
                </a:solidFill>
                <a:latin typeface="Arial MT"/>
                <a:cs typeface="Arial MT"/>
              </a:rPr>
              <a:t>Micro-</a:t>
            </a:r>
            <a:r>
              <a:rPr dirty="0" sz="1900" spc="70">
                <a:solidFill>
                  <a:srgbClr val="E1E1E1"/>
                </a:solidFill>
                <a:latin typeface="Arial MT"/>
                <a:cs typeface="Arial MT"/>
              </a:rPr>
              <a:t>segmentation</a:t>
            </a:r>
            <a:r>
              <a:rPr dirty="0" sz="1900" spc="-3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firewall</a:t>
            </a:r>
            <a:r>
              <a:rPr dirty="0" sz="1900" spc="10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rules</a:t>
            </a:r>
            <a:r>
              <a:rPr dirty="0" sz="1900" spc="10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drop</a:t>
            </a:r>
            <a:r>
              <a:rPr dirty="0" sz="1900" spc="4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 spc="55">
                <a:solidFill>
                  <a:srgbClr val="DBDBDB"/>
                </a:solidFill>
                <a:latin typeface="Arial MT"/>
                <a:cs typeface="Arial MT"/>
              </a:rPr>
              <a:t>traPic.</a:t>
            </a:r>
            <a:r>
              <a:rPr dirty="0" sz="1900" spc="1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D6D6D6"/>
                </a:solidFill>
                <a:latin typeface="Arial MT"/>
                <a:cs typeface="Arial MT"/>
              </a:rPr>
              <a:t>IAM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verifies</a:t>
            </a:r>
            <a:r>
              <a:rPr dirty="0" sz="1900" spc="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2E2E2"/>
                </a:solidFill>
                <a:latin typeface="Arial MT"/>
                <a:cs typeface="Arial MT"/>
              </a:rPr>
              <a:t>user</a:t>
            </a:r>
            <a:r>
              <a:rPr dirty="0" sz="1900" spc="15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role</a:t>
            </a:r>
            <a:r>
              <a:rPr dirty="0" sz="1900" spc="-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9E9E9"/>
                </a:solidFill>
                <a:latin typeface="Arial MT"/>
                <a:cs typeface="Arial MT"/>
              </a:rPr>
              <a:t>does</a:t>
            </a:r>
            <a:r>
              <a:rPr dirty="0" sz="1900" spc="5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DFDFDF"/>
                </a:solidFill>
                <a:latin typeface="Arial MT"/>
                <a:cs typeface="Arial MT"/>
              </a:rPr>
              <a:t>not</a:t>
            </a:r>
            <a:r>
              <a:rPr dirty="0" sz="1900" spc="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75">
                <a:solidFill>
                  <a:srgbClr val="DDDDDD"/>
                </a:solidFill>
                <a:latin typeface="Arial MT"/>
                <a:cs typeface="Arial MT"/>
              </a:rPr>
              <a:t>match</a:t>
            </a:r>
            <a:r>
              <a:rPr dirty="0" sz="1900" spc="-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resource</a:t>
            </a:r>
            <a:r>
              <a:rPr dirty="0" sz="1900" spc="15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BDBDB"/>
                </a:solidFill>
                <a:latin typeface="Arial MT"/>
                <a:cs typeface="Arial MT"/>
              </a:rPr>
              <a:t>required</a:t>
            </a:r>
            <a:r>
              <a:rPr dirty="0" sz="1900" spc="-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40">
                <a:solidFill>
                  <a:srgbClr val="DFDFDF"/>
                </a:solidFill>
                <a:latin typeface="Arial MT"/>
                <a:cs typeface="Arial MT"/>
              </a:rPr>
              <a:t>role.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428607" y="2868102"/>
            <a:ext cx="8077200" cy="171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r>
              <a:rPr dirty="0" sz="33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FFFFFF"/>
                </a:solidFill>
                <a:latin typeface="Arial MT"/>
                <a:cs typeface="Arial MT"/>
              </a:rPr>
              <a:t>B:</a:t>
            </a:r>
            <a:r>
              <a:rPr dirty="0" sz="3350" spc="-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114">
                <a:solidFill>
                  <a:srgbClr val="FFFFFF"/>
                </a:solidFill>
                <a:latin typeface="Arial MT"/>
                <a:cs typeface="Arial MT"/>
              </a:rPr>
              <a:t>External</a:t>
            </a:r>
            <a:r>
              <a:rPr dirty="0" sz="33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85">
                <a:solidFill>
                  <a:srgbClr val="FFFFFF"/>
                </a:solidFill>
                <a:latin typeface="Arial MT"/>
                <a:cs typeface="Arial MT"/>
              </a:rPr>
              <a:t>Credential</a:t>
            </a:r>
            <a:r>
              <a:rPr dirty="0" sz="33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350" spc="180">
                <a:solidFill>
                  <a:srgbClr val="FFFFFF"/>
                </a:solidFill>
                <a:latin typeface="Arial MT"/>
                <a:cs typeface="Arial MT"/>
              </a:rPr>
              <a:t>Theft</a:t>
            </a:r>
            <a:endParaRPr sz="3350">
              <a:latin typeface="Arial MT"/>
              <a:cs typeface="Arial MT"/>
            </a:endParaRPr>
          </a:p>
          <a:p>
            <a:pPr marL="20955" marR="5080" indent="10795">
              <a:lnSpc>
                <a:spcPct val="143400"/>
              </a:lnSpc>
              <a:spcBef>
                <a:spcPts val="1395"/>
              </a:spcBef>
            </a:pPr>
            <a:r>
              <a:rPr dirty="0" sz="2300" spc="80">
                <a:solidFill>
                  <a:srgbClr val="E1E1E1"/>
                </a:solidFill>
                <a:latin typeface="Arial MT"/>
                <a:cs typeface="Arial MT"/>
              </a:rPr>
              <a:t>Attacker</a:t>
            </a:r>
            <a:r>
              <a:rPr dirty="0" sz="2300" spc="33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4E4E4"/>
                </a:solidFill>
                <a:latin typeface="Arial MT"/>
                <a:cs typeface="Arial MT"/>
              </a:rPr>
              <a:t>steals</a:t>
            </a:r>
            <a:r>
              <a:rPr dirty="0" sz="2300" spc="1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DDDDDD"/>
                </a:solidFill>
                <a:latin typeface="Arial MT"/>
                <a:cs typeface="Arial MT"/>
              </a:rPr>
              <a:t>valid</a:t>
            </a:r>
            <a:r>
              <a:rPr dirty="0" sz="2300" spc="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300" spc="114">
                <a:solidFill>
                  <a:srgbClr val="E4E4E4"/>
                </a:solidFill>
                <a:latin typeface="Arial MT"/>
                <a:cs typeface="Arial MT"/>
              </a:rPr>
              <a:t>username/password</a:t>
            </a:r>
            <a:r>
              <a:rPr dirty="0" sz="2300" spc="-1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BDBDB"/>
                </a:solidFill>
                <a:latin typeface="Arial MT"/>
                <a:cs typeface="Arial MT"/>
              </a:rPr>
              <a:t>via</a:t>
            </a:r>
            <a:r>
              <a:rPr dirty="0" sz="2300" spc="12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4E4E4"/>
                </a:solidFill>
                <a:latin typeface="Arial MT"/>
                <a:cs typeface="Arial MT"/>
              </a:rPr>
              <a:t>phishing</a:t>
            </a:r>
            <a:r>
              <a:rPr dirty="0" sz="2300" spc="24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95">
                <a:solidFill>
                  <a:srgbClr val="DBDBDB"/>
                </a:solidFill>
                <a:latin typeface="Arial MT"/>
                <a:cs typeface="Arial MT"/>
              </a:rPr>
              <a:t>and </a:t>
            </a:r>
            <a:r>
              <a:rPr dirty="0" sz="2300" spc="120">
                <a:solidFill>
                  <a:srgbClr val="E4E4E4"/>
                </a:solidFill>
                <a:latin typeface="Arial MT"/>
                <a:cs typeface="Arial MT"/>
              </a:rPr>
              <a:t>attempts</a:t>
            </a:r>
            <a:r>
              <a:rPr dirty="0" sz="2300" spc="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DFDFDF"/>
                </a:solidFill>
                <a:latin typeface="Arial MT"/>
                <a:cs typeface="Arial MT"/>
              </a:rPr>
              <a:t>remote</a:t>
            </a:r>
            <a:r>
              <a:rPr dirty="0" sz="2300" spc="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E2E2E2"/>
                </a:solidFill>
                <a:latin typeface="Arial MT"/>
                <a:cs typeface="Arial MT"/>
              </a:rPr>
              <a:t>login.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39901" y="5604275"/>
            <a:ext cx="7264400" cy="8426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41000"/>
              </a:lnSpc>
              <a:spcBef>
                <a:spcPts val="95"/>
              </a:spcBef>
            </a:pPr>
            <a:r>
              <a:rPr dirty="0" sz="1900">
                <a:solidFill>
                  <a:srgbClr val="E2E2E2"/>
                </a:solidFill>
                <a:latin typeface="Arial MT"/>
                <a:cs typeface="Arial MT"/>
              </a:rPr>
              <a:t>Login</a:t>
            </a:r>
            <a:r>
              <a:rPr dirty="0" sz="1900" spc="-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DBDBDB"/>
                </a:solidFill>
                <a:latin typeface="Arial MT"/>
                <a:cs typeface="Arial MT"/>
              </a:rPr>
              <a:t>attempt</a:t>
            </a:r>
            <a:r>
              <a:rPr dirty="0" sz="1900" spc="1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E2E2E2"/>
                </a:solidFill>
                <a:latin typeface="Arial MT"/>
                <a:cs typeface="Arial MT"/>
              </a:rPr>
              <a:t>from</a:t>
            </a:r>
            <a:r>
              <a:rPr dirty="0" sz="1900" spc="-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unrecognized</a:t>
            </a:r>
            <a:r>
              <a:rPr dirty="0" sz="1900" spc="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BEBEB"/>
                </a:solidFill>
                <a:latin typeface="Arial MT"/>
                <a:cs typeface="Arial MT"/>
              </a:rPr>
              <a:t>device/IP</a:t>
            </a:r>
            <a:r>
              <a:rPr dirty="0" sz="1900" spc="10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address</a:t>
            </a:r>
            <a:r>
              <a:rPr dirty="0" sz="1900" spc="10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E1E1E1"/>
                </a:solidFill>
                <a:latin typeface="Arial MT"/>
                <a:cs typeface="Arial MT"/>
              </a:rPr>
              <a:t>using </a:t>
            </a:r>
            <a:r>
              <a:rPr dirty="0" sz="1900" spc="65">
                <a:solidFill>
                  <a:srgbClr val="E2E2E2"/>
                </a:solidFill>
                <a:latin typeface="Arial MT"/>
                <a:cs typeface="Arial MT"/>
              </a:rPr>
              <a:t>correct </a:t>
            </a:r>
            <a:r>
              <a:rPr dirty="0" sz="1900" spc="-10">
                <a:solidFill>
                  <a:srgbClr val="E4E4E4"/>
                </a:solidFill>
                <a:latin typeface="Arial MT"/>
                <a:cs typeface="Arial MT"/>
              </a:rPr>
              <a:t>password.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38102" y="7928812"/>
            <a:ext cx="7508875" cy="8426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 marR="5080" indent="-7620">
              <a:lnSpc>
                <a:spcPct val="141000"/>
              </a:lnSpc>
              <a:spcBef>
                <a:spcPts val="95"/>
              </a:spcBef>
            </a:pPr>
            <a:r>
              <a:rPr dirty="0" sz="1900">
                <a:solidFill>
                  <a:srgbClr val="428EAA"/>
                </a:solidFill>
                <a:latin typeface="Arial MT"/>
                <a:cs typeface="Arial MT"/>
              </a:rPr>
              <a:t>Blackest.</a:t>
            </a:r>
            <a:r>
              <a:rPr dirty="0" sz="1900" spc="160">
                <a:solidFill>
                  <a:srgbClr val="428EA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2E2E2"/>
                </a:solidFill>
                <a:latin typeface="Arial MT"/>
                <a:cs typeface="Arial MT"/>
              </a:rPr>
              <a:t>Conditional</a:t>
            </a:r>
            <a:r>
              <a:rPr dirty="0" sz="1900" spc="21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DDDDDD"/>
                </a:solidFill>
                <a:latin typeface="Arial MT"/>
                <a:cs typeface="Arial MT"/>
              </a:rPr>
              <a:t>Access</a:t>
            </a:r>
            <a:r>
              <a:rPr dirty="0" sz="1900" spc="19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Policy</a:t>
            </a:r>
            <a:r>
              <a:rPr dirty="0" sz="1900" spc="5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fails.</a:t>
            </a:r>
            <a:r>
              <a:rPr dirty="0" sz="1900" spc="15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Device</a:t>
            </a:r>
            <a:r>
              <a:rPr dirty="0" sz="1900" spc="12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DDDDDD"/>
                </a:solidFill>
                <a:latin typeface="Arial MT"/>
                <a:cs typeface="Arial MT"/>
              </a:rPr>
              <a:t>is</a:t>
            </a:r>
            <a:r>
              <a:rPr dirty="0" sz="1900" spc="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unmanaged,</a:t>
            </a:r>
            <a:r>
              <a:rPr dirty="0" sz="1900" spc="-2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 spc="30">
                <a:solidFill>
                  <a:srgbClr val="D8D8D8"/>
                </a:solidFill>
                <a:latin typeface="Arial MT"/>
                <a:cs typeface="Arial MT"/>
              </a:rPr>
              <a:t>and </a:t>
            </a:r>
            <a:r>
              <a:rPr dirty="0" sz="1900" spc="-90">
                <a:solidFill>
                  <a:srgbClr val="DDDDDD"/>
                </a:solidFill>
                <a:latin typeface="Arial MT"/>
                <a:cs typeface="Arial MT"/>
              </a:rPr>
              <a:t>MFA</a:t>
            </a:r>
            <a:r>
              <a:rPr dirty="0" sz="1900" spc="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4E4E4"/>
                </a:solidFill>
                <a:latin typeface="Arial MT"/>
                <a:cs typeface="Arial MT"/>
              </a:rPr>
              <a:t>challenge</a:t>
            </a:r>
            <a:r>
              <a:rPr dirty="0" sz="1900" spc="114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E1E1E1"/>
                </a:solidFill>
                <a:latin typeface="Arial MT"/>
                <a:cs typeface="Arial MT"/>
              </a:rPr>
              <a:t>is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 spc="75">
                <a:solidFill>
                  <a:srgbClr val="DFDFDF"/>
                </a:solidFill>
                <a:latin typeface="Arial MT"/>
                <a:cs typeface="Arial MT"/>
              </a:rPr>
              <a:t>triggered</a:t>
            </a:r>
            <a:r>
              <a:rPr dirty="0" sz="1900" spc="-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but</a:t>
            </a:r>
            <a:r>
              <a:rPr dirty="0" sz="1900" spc="-1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DADADA"/>
                </a:solidFill>
                <a:latin typeface="Arial MT"/>
                <a:cs typeface="Arial MT"/>
              </a:rPr>
              <a:t>not</a:t>
            </a:r>
            <a:r>
              <a:rPr dirty="0" sz="1900" spc="-3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900" spc="40">
                <a:solidFill>
                  <a:srgbClr val="E8E8E8"/>
                </a:solidFill>
                <a:latin typeface="Arial MT"/>
                <a:cs typeface="Arial MT"/>
              </a:rPr>
              <a:t>completed.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06"/>
            <a:ext cx="157063" cy="1127714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89498" y="0"/>
            <a:ext cx="18156555" cy="11285220"/>
            <a:chOff x="989498" y="0"/>
            <a:chExt cx="18156555" cy="11285220"/>
          </a:xfrm>
        </p:grpSpPr>
        <p:sp>
          <p:nvSpPr>
            <p:cNvPr id="4" name="object 4" descr=""/>
            <p:cNvSpPr/>
            <p:nvPr/>
          </p:nvSpPr>
          <p:spPr>
            <a:xfrm>
              <a:off x="19134234" y="2913523"/>
              <a:ext cx="0" cy="24130"/>
            </a:xfrm>
            <a:custGeom>
              <a:avLst/>
              <a:gdLst/>
              <a:ahLst/>
              <a:cxnLst/>
              <a:rect l="l" t="t" r="r" b="b"/>
              <a:pathLst>
                <a:path w="0" h="24130">
                  <a:moveTo>
                    <a:pt x="0" y="0"/>
                  </a:moveTo>
                  <a:lnTo>
                    <a:pt x="0" y="23559"/>
                  </a:lnTo>
                </a:path>
              </a:pathLst>
            </a:custGeom>
            <a:ln w="23558">
              <a:solidFill>
                <a:srgbClr val="131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9498" y="0"/>
              <a:ext cx="18133060" cy="11285220"/>
            </a:xfrm>
            <a:custGeom>
              <a:avLst/>
              <a:gdLst/>
              <a:ahLst/>
              <a:cxnLst/>
              <a:rect l="l" t="t" r="r" b="b"/>
              <a:pathLst>
                <a:path w="18133060" h="11285220">
                  <a:moveTo>
                    <a:pt x="18132956" y="11284997"/>
                  </a:moveTo>
                  <a:lnTo>
                    <a:pt x="0" y="11284997"/>
                  </a:lnTo>
                  <a:lnTo>
                    <a:pt x="0" y="0"/>
                  </a:lnTo>
                  <a:lnTo>
                    <a:pt x="18132956" y="0"/>
                  </a:lnTo>
                  <a:lnTo>
                    <a:pt x="18132956" y="11284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33398" y="4691345"/>
            <a:ext cx="417512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220">
                <a:solidFill>
                  <a:srgbClr val="FFFFFF"/>
                </a:solidFill>
                <a:latin typeface="Arial MT"/>
                <a:cs typeface="Arial MT"/>
              </a:rPr>
              <a:t>Documented</a:t>
            </a:r>
            <a:r>
              <a:rPr dirty="0" sz="3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6505" y="4658623"/>
            <a:ext cx="4182745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dirty="0" spc="-75"/>
              <a:t> </a:t>
            </a:r>
            <a:r>
              <a:rPr dirty="0" spc="120"/>
              <a:t>Identified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869558" y="4674984"/>
            <a:ext cx="425386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Fu†ure</a:t>
            </a:r>
            <a:r>
              <a:rPr dirty="0" sz="3200" spc="-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155">
                <a:solidFill>
                  <a:srgbClr val="FFFFFF"/>
                </a:solidFill>
                <a:latin typeface="Arial MT"/>
                <a:cs typeface="Arial MT"/>
              </a:rPr>
              <a:t>Improvements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2025-12-04T18:31:13Z</dcterms:created>
  <dcterms:modified xsi:type="dcterms:W3CDTF">2025-12-04T18:31:13Z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